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 (억원)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CC7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42</c:v>
                </c:pt>
                <c:pt idx="2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CC7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434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HelloNext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Golf Coaching Platform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19050">
            <a:solidFill>
              <a:srgbClr val="F1C4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Patents  |  AI + Voice + Pose  |  Series Seed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골프 레슨 시장의 구조적 비효율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5603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비체계적 레슨 기록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종이 노트와 구두 피드백에 의존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일관성 없는 추적과 분석 불가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560320" cy="25603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63040"/>
            <a:ext cx="25603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204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프로-회원 소통 단절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레슨 외 시간 피드백 부재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이탈률 연 40% 이상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560320" cy="256032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63040"/>
            <a:ext cx="2560320" cy="54864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기반 코칭 부재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감에 의존한 교정 제안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객관적 측정/신뢰도 미제공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골프 인구 550만명  |  레슨 시장 2.1조원  |  프로 등록 수 12,000+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AI로 혁신하는 골프 코칭 경험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822960" cy="822960"/>
          </a:xfrm>
          <a:prstGeom prst="ellipse">
            <a:avLst/>
          </a:prstGeom>
          <a:solidFill>
            <a:srgbClr val="2434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813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스윙 분석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BlazePose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33개 관절 실시간 추적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17520" y="1371600"/>
            <a:ext cx="822960" cy="822960"/>
          </a:xfrm>
          <a:prstGeom prst="ellipse">
            <a:avLst/>
          </a:prstGeom>
          <a:solidFill>
            <a:srgbClr val="2434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48132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1460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음성 메모 → 리포트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51460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+ GPT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레슨 보고서 생성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166360" y="1371600"/>
            <a:ext cx="822960" cy="822960"/>
          </a:xfrm>
          <a:prstGeom prst="ellipse">
            <a:avLst/>
          </a:prstGeom>
          <a:solidFill>
            <a:srgbClr val="24344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81328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인과 그래프 분석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6344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스윙 요소 간 인과관계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교정 제안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0" y="1371600"/>
            <a:ext cx="822960" cy="822960"/>
          </a:xfrm>
          <a:prstGeom prst="ellipse">
            <a:avLst/>
          </a:prstGeom>
          <a:solidFill>
            <a:srgbClr val="24344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48132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실시간 연결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81228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프로-회원 실시간 소통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네이티브 앱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2" name="Text 16"/>
          <p:cNvSpPr/>
          <p:nvPr/>
        </p:nvSpPr>
        <p:spPr>
          <a:xfrm>
            <a:off x="73152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음성 녹음 → 자동 전사 → AI 분석 → 리포트 생성 → 회원 전달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프로가 말만 하면 끝. 5분 레슨 메모가 전문 리포트로 변환됩니다.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PORTFOLIO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4건의 특허 기반 기술 해자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128016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2801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3-Layer Data Separation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Processed →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무결성 보장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840480" cy="128016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17320"/>
            <a:ext cx="54864" cy="12801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554480"/>
            <a:ext cx="457200" cy="320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Graph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스윙 요소 인과관계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Edit-Delta 추적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3840480" cy="128016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26080"/>
            <a:ext cx="54864" cy="128016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063240"/>
            <a:ext cx="457200" cy="3200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3-Tier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T1(High)/T2(Mid)/T3(Low)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신뢰도 시스템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3840480" cy="128016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54864" cy="1280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3063240"/>
            <a:ext cx="45720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Object FSM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UNBOUND→PREPROCESSED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→BOUND→DELIVERED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solidFill>
            <a:srgbClr val="1C3A1E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4건은 경쟁사 진입 장벽이자, 기술 라이선싱 수익 파이프라인입니다.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B2B2C SaaS + Transaction Fee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237744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SaaS 구독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월 49,000원~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분석, 리포트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관리 대시보드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1965960" cy="237744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371600"/>
            <a:ext cx="19659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결제 수수료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25603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레슨 예약 결제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Payments 연동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65960" cy="237744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71600"/>
            <a:ext cx="1965960" cy="54864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프리미엄 기능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월 9,900원~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5603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회원용 진도 분석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무제한 리포트 열람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1965960" cy="237744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371600"/>
            <a:ext cx="19659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엔터프라이즈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협의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25603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골프장/아카데미 단체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제공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8046720" cy="86868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588,000원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평균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45,000원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74320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마케팅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13.1x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75488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&gt; 3x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1개월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6656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회수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2.1조원 골프 레슨 시장 공략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0" cy="3291840"/>
          </a:xfrm>
          <a:prstGeom prst="ellipse">
            <a:avLst/>
          </a:prstGeom>
          <a:solidFill>
            <a:srgbClr val="1E3A2A">
              <a:alpha val="60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828800"/>
            <a:ext cx="2743200" cy="2377440"/>
          </a:xfrm>
          <a:prstGeom prst="ellipse">
            <a:avLst/>
          </a:prstGeom>
          <a:solidFill>
            <a:srgbClr val="1E3A2A">
              <a:alpha val="80000"/>
            </a:srgbClr>
          </a:solidFill>
          <a:ln w="19050">
            <a:solidFill>
              <a:srgbClr val="F1C4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286000"/>
            <a:ext cx="1828800" cy="1463040"/>
          </a:xfrm>
          <a:prstGeom prst="ellipse">
            <a:avLst/>
          </a:prstGeom>
          <a:solidFill>
            <a:srgbClr val="243447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7452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3657600" cy="86868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463040"/>
            <a:ext cx="54864" cy="8686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2.1조원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골프 레슨/코칭 전체 시장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560320"/>
            <a:ext cx="3657600" cy="86868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2560320"/>
            <a:ext cx="54864" cy="86868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3,200억원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전환 가능 레슨 시장 (15%)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657600"/>
            <a:ext cx="3657600" cy="86868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0" y="3657600"/>
            <a:ext cx="54864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120억원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내 도달 목표 (프로 2,000명 기준)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제품 완성도와 성장 로드맵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331720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920240"/>
            <a:ext cx="822960" cy="2743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920240" cy="13716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완성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469/469 테스트 통과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4건 출원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331720"/>
            <a:ext cx="274320" cy="27432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1920240"/>
            <a:ext cx="822960" cy="2743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2788920"/>
            <a:ext cx="1920240" cy="13716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배포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 테스트 (50명)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검증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2331720"/>
            <a:ext cx="274320" cy="27432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57800" y="1920240"/>
            <a:ext cx="822960" cy="2743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1920240" cy="13716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런칭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 500명 온보딩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 출시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233172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1920240"/>
            <a:ext cx="82296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9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2788920"/>
            <a:ext cx="1920240" cy="13716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 2,000명 돌파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계약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준비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8046720" cy="59436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469/469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4645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커버리지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743200" y="4645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파일 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4건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54880" y="4645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출원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12종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6560" y="4645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HELLONEXT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경쟁 우위와 차별화 전략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011680" cy="41148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2011680" cy="411480"/>
          </a:xfrm>
          <a:prstGeom prst="rect">
            <a:avLst/>
          </a:prstGeom>
          <a:solidFill>
            <a:srgbClr val="1E3A2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HelloNext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2011680" cy="41148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일반 레슨앱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2011680" cy="41148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영상분석 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288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스윙 분석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828800"/>
            <a:ext cx="2011680" cy="393192"/>
          </a:xfrm>
          <a:prstGeom prst="rect">
            <a:avLst/>
          </a:prstGeom>
          <a:solidFill>
            <a:srgbClr val="1A2F20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8288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8288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82880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8288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24028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240280"/>
            <a:ext cx="2011680" cy="39319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음성→리포트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2240280"/>
            <a:ext cx="2011680" cy="393192"/>
          </a:xfrm>
          <a:prstGeom prst="rect">
            <a:avLst/>
          </a:prstGeom>
          <a:solidFill>
            <a:srgbClr val="1A2F20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224028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24028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24028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224028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24028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65176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651760"/>
            <a:ext cx="2011680" cy="39319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 그래프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2651760"/>
            <a:ext cx="2011680" cy="393192"/>
          </a:xfrm>
          <a:prstGeom prst="rect">
            <a:avLst/>
          </a:prstGeom>
          <a:solidFill>
            <a:srgbClr val="1A2F20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265176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65176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265176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265176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65176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06324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063240"/>
            <a:ext cx="2011680" cy="39319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보호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3063240"/>
            <a:ext cx="2011680" cy="393192"/>
          </a:xfrm>
          <a:prstGeom prst="rect">
            <a:avLst/>
          </a:prstGeom>
          <a:solidFill>
            <a:srgbClr val="1A2F20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0" y="306324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4건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306324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306324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306324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306324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347472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474720"/>
            <a:ext cx="2011680" cy="39319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프로-회원 연동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0" y="3474720"/>
            <a:ext cx="2011680" cy="393192"/>
          </a:xfrm>
          <a:prstGeom prst="rect">
            <a:avLst/>
          </a:prstGeom>
          <a:solidFill>
            <a:srgbClr val="1A2F20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0" y="347472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347472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0" y="347472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제한적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83680" y="3474720"/>
            <a:ext cx="2011680" cy="3931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2" name="Text 50"/>
          <p:cNvSpPr/>
          <p:nvPr/>
        </p:nvSpPr>
        <p:spPr>
          <a:xfrm>
            <a:off x="6583680" y="347472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388620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38862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지원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0" y="3886200"/>
            <a:ext cx="2011680" cy="393192"/>
          </a:xfrm>
          <a:prstGeom prst="rect">
            <a:avLst/>
          </a:prstGeom>
          <a:solidFill>
            <a:srgbClr val="1A2F20"/>
          </a:solidFill>
          <a:ln/>
        </p:spPr>
      </p:sp>
      <p:sp>
        <p:nvSpPr>
          <p:cNvPr id="56" name="Text 54"/>
          <p:cNvSpPr/>
          <p:nvPr/>
        </p:nvSpPr>
        <p:spPr>
          <a:xfrm>
            <a:off x="2560320" y="38862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PWA+Native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0" y="388620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0" y="38862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83680" y="3886200"/>
            <a:ext cx="2011680" cy="393192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60" name="Text 58"/>
          <p:cNvSpPr/>
          <p:nvPr/>
        </p:nvSpPr>
        <p:spPr>
          <a:xfrm>
            <a:off x="6583680" y="38862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solidFill>
            <a:srgbClr val="1C3A1E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42702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유일한 특허 보유 AI 골프 코칭 플랫폼 — 기술 + 데이터 + 네트워크 효과의 삼중 해자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3개년 수익 전망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371600"/>
            <a:ext cx="3474720" cy="77724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7" name="Text 4"/>
          <p:cNvSpPr/>
          <p:nvPr/>
        </p:nvSpPr>
        <p:spPr>
          <a:xfrm>
            <a:off x="544068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7220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8억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406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 500명  |  회원 5,000명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2331720"/>
            <a:ext cx="3474720" cy="77724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1" name="Text 8"/>
          <p:cNvSpPr/>
          <p:nvPr/>
        </p:nvSpPr>
        <p:spPr>
          <a:xfrm>
            <a:off x="544068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7220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42억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4068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 2,000명  |  회원 25,000명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3291840"/>
            <a:ext cx="3474720" cy="77724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5" name="Text 12"/>
          <p:cNvSpPr/>
          <p:nvPr/>
        </p:nvSpPr>
        <p:spPr>
          <a:xfrm>
            <a:off x="5440680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7220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120억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4068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 5,000명  |  회원 75,000명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4251960"/>
            <a:ext cx="3474720" cy="411480"/>
          </a:xfrm>
          <a:prstGeom prst="rect">
            <a:avLst/>
          </a:prstGeom>
          <a:solidFill>
            <a:srgbClr val="1C3A1E"/>
          </a:solidFill>
          <a:ln/>
        </p:spPr>
      </p:sp>
      <p:sp>
        <p:nvSpPr>
          <p:cNvPr id="19" name="Text 16"/>
          <p:cNvSpPr/>
          <p:nvPr/>
        </p:nvSpPr>
        <p:spPr>
          <a:xfrm>
            <a:off x="5394960" y="4270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영업이익률 목표: 25%+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 Seed 투자 제안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182880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840480" cy="54864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규모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5억원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Valuation: 30억원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Convertible Note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1828800"/>
          </a:xfrm>
          <a:prstGeom prst="rect">
            <a:avLst/>
          </a:prstGeom>
          <a:solidFill>
            <a:srgbClr val="24344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71600"/>
            <a:ext cx="384048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자금 사용 계획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개발팀 확충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947672"/>
            <a:ext cx="1536192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마케팅/BD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313432"/>
            <a:ext cx="960120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인프라/운영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679192"/>
            <a:ext cx="768096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7443216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특허/법무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044952"/>
            <a:ext cx="576072" cy="20116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/>
          <p:nvPr/>
        </p:nvSpPr>
        <p:spPr>
          <a:xfrm>
            <a:off x="7251192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투자 후 18개월 목표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 가입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25,000+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74320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42억+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5488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매출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 A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6656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투자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822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만드는 골프의 미래, HelloNext와 함께하세요.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0"/>
          </a:xfrm>
          <a:prstGeom prst="line">
            <a:avLst/>
          </a:prstGeom>
          <a:noFill/>
          <a:ln w="19050">
            <a:solidFill>
              <a:srgbClr val="F1C4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contact@hellonext.kr  |  www.hellonext.kr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Seoul, South Korea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HelloNext - AI Golf Coaching Platform</dc:title>
  <dc:subject>PptxGenJS Presentation</dc:subject>
  <dc:creator>HelloNext</dc:creator>
  <cp:lastModifiedBy>HelloNext</cp:lastModifiedBy>
  <cp:revision>1</cp:revision>
  <dcterms:created xsi:type="dcterms:W3CDTF">2026-03-11T11:43:41Z</dcterms:created>
  <dcterms:modified xsi:type="dcterms:W3CDTF">2026-03-11T11:43:41Z</dcterms:modified>
</cp:coreProperties>
</file>